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6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2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94717E-4E5E-D054-E43B-454527DDB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F039A8F-F94B-6A88-67AA-70E1DACA3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2B2CA5-DF38-75EC-9564-732A7194C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3A4A7C-6A22-01A0-4B46-791F5F39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CCE3BA-C14C-D414-3771-FFE90A56C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1387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E80B9E-D8B9-562D-B3C1-8F2926AAF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AC0A93F-E6AD-56B2-CA85-A0EFF56BA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4EABC33-FCA5-370E-21F8-8BB8A6E4F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7096D6-BB0A-161C-5E63-EFF19FCBE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DFF02E-4286-268A-1EDA-15EDF7B32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565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D6DD6F-C4AA-63BF-D134-21D5AA1EB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1B5702-0DA2-427C-7512-AA5F66D63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9877DE-532F-C811-97BB-04CB93498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0D59E2-F1FB-A488-8C79-1E3347735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4562C0A-61E4-F0E0-247C-CBE13AA77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4485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C27E82-E0B9-24ED-56BA-CE35B9323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F3E8A7-DF8F-ABC5-93EA-5932D8F3E9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C0352A9-3ED6-7253-D8C5-A7838646B7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CDBDD7-0283-B94D-1D21-5A4CC0EAD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F90C51-58D1-2838-304D-2B3F9AF87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93D0FF-C248-81DF-98A6-690075DEF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5843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2D6477-A20A-B2FD-F0A1-C2BDB6BFF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5C85B9B-7989-BAA2-CC25-72CCEEB4C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ACB45D-50A7-9626-1C0C-C228E2CB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8F638E5-ED0A-F556-45C8-9F0E38BAE3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BC6F2C3-5CDD-50B4-09E4-6A84BA15B4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9D8E489-85BD-EB8D-F944-902D281A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2614089-94F0-2196-F0CB-0DB1CE4A6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A4E0AA1-EF4B-FB33-9687-6AADB953C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412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70FFC8-B091-E1BE-3FBF-951D6E2FD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7327298-2918-075A-8D4D-DEB10A748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0332F5-E181-D31E-C0A7-A70D16215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B6410B8-632B-3F5D-6216-396C3A5E4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8138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053F945-C613-E816-BDA3-45591B7A3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0ADEADB-D191-77C3-C6A6-EBC3397CE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EF73A4-726D-DBDB-FCCA-DAD653409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2975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76CB06-02B0-8129-F3DA-08BF10C01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3DA5EA-D7DB-A5A9-1005-8C9782903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63F8749-5D48-696D-8FCA-FA01C3F68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C1DA983-AFED-889C-CBF7-9B7CFCEED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DED52DB-8E0E-A999-CF45-35C024096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3AEEA1F-FEEB-3DF8-82D3-2C031AE6E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4387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894585-122C-ED64-E5CE-6F098DCC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14ED3B-42CD-3099-8F68-2BD943AB7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85220D-63AD-0844-D0DD-F9B91358E2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B6F20D4-2A88-A560-1902-576738F3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0A2D46A-6312-A842-F70C-895DDF47D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B5A1A8-894C-C633-4268-F0867A7F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48389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323F90-AC99-208C-2AF3-C09B68C1B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037B9B-ED96-512B-2ADA-88E8B64001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9110BA-181B-B251-849A-4FDB8226E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0A2D19-93B7-B979-356B-E8293E707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C4248E-859C-2675-DE0C-39F8B6341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2735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40500C3-3678-D895-EAE2-F4024591E6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6E20B19-3FD0-56D6-B624-C4D2C4836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F5F582-516D-FEB4-0B5A-FACA5935D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C7F017-660D-CDF3-156A-8D1D3BDDC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A6B81C-7E65-FC5A-2BFB-2F4325B2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1472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D4CB4B-9307-9C5E-FF57-0E6F24329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7C185F6-BA2E-AB76-1C85-2DF30C913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AB8B8A-76E7-D8A4-D8D0-44C7EC1784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88AE7E-05B7-4F99-B1D5-9E305137766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17495A-19F5-99B8-0B69-A5E781690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4660A4-7DA7-3759-71BD-79D7D066A8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ABA1C7-476C-4912-A173-DBE3218C5B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249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2" name="Picture 18" descr="ユーザーアイコン（プロフィールマーク） | 無料イラスト素材｜素材ラボ">
            <a:extLst>
              <a:ext uri="{FF2B5EF4-FFF2-40B4-BE49-F238E27FC236}">
                <a16:creationId xmlns:a16="http://schemas.microsoft.com/office/drawing/2014/main" id="{69D0EF2A-EE3F-237C-BA6C-76FFAE5FD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71102" y="4017104"/>
            <a:ext cx="1677975" cy="125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BD61DA1E-3BCA-7371-4E91-1D57EEC0B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614" y="121543"/>
            <a:ext cx="10515600" cy="1325563"/>
          </a:xfrm>
        </p:spPr>
        <p:txBody>
          <a:bodyPr/>
          <a:lstStyle/>
          <a:p>
            <a:r>
              <a:rPr lang="en-US" altLang="ja-JP" dirty="0"/>
              <a:t>SQL</a:t>
            </a:r>
            <a:r>
              <a:rPr lang="ja-JP" altLang="en-US" dirty="0"/>
              <a:t>サーバー接続アプリ作成について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729DFA-2462-277A-DF53-5DA21B152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058" y="1545688"/>
            <a:ext cx="10515600" cy="2559476"/>
          </a:xfrm>
        </p:spPr>
        <p:txBody>
          <a:bodyPr>
            <a:normAutofit/>
          </a:bodyPr>
          <a:lstStyle/>
          <a:p>
            <a:r>
              <a:rPr kumimoji="1" lang="ja-JP" altLang="en-US" sz="1200" dirty="0"/>
              <a:t>現場では生産に関するデーターを集約したトレサビ用サーバーがあります。</a:t>
            </a:r>
            <a:endParaRPr kumimoji="1" lang="en-US" altLang="ja-JP" sz="1200" dirty="0"/>
          </a:p>
          <a:p>
            <a:pPr marL="0" indent="0">
              <a:buNone/>
            </a:pPr>
            <a:r>
              <a:rPr lang="ja-JP" altLang="en-US" sz="1200" dirty="0"/>
              <a:t>このサーバーからクラウド環境へ毎日必要なデータを吸い上げ、</a:t>
            </a:r>
            <a:endParaRPr lang="en-US" altLang="ja-JP" sz="1200" dirty="0"/>
          </a:p>
          <a:p>
            <a:pPr marL="0" indent="0">
              <a:buNone/>
            </a:pPr>
            <a:r>
              <a:rPr lang="en-US" altLang="ja-JP" sz="1200" dirty="0" err="1"/>
              <a:t>PowerPlatform</a:t>
            </a:r>
            <a:r>
              <a:rPr lang="ja-JP" altLang="en-US" sz="1200" dirty="0"/>
              <a:t>の</a:t>
            </a:r>
            <a:r>
              <a:rPr lang="en-US" altLang="ja-JP" sz="1200" dirty="0" err="1"/>
              <a:t>PowerApps,PowerBi</a:t>
            </a:r>
            <a:r>
              <a:rPr lang="ja-JP" altLang="en-US" sz="1200" dirty="0"/>
              <a:t>などでデータを活用しています。</a:t>
            </a:r>
            <a:endParaRPr lang="en-US" altLang="ja-JP" sz="1200" dirty="0"/>
          </a:p>
          <a:p>
            <a:pPr marL="0" indent="0">
              <a:buNone/>
            </a:pPr>
            <a:endParaRPr lang="en-US" altLang="ja-JP" sz="1200" dirty="0"/>
          </a:p>
          <a:p>
            <a:pPr marL="0" indent="0">
              <a:buNone/>
            </a:pPr>
            <a:r>
              <a:rPr lang="ja-JP" altLang="en-US" sz="1200" dirty="0"/>
              <a:t>これらのデータを閲覧し必要な情報をエクスポートしようと思うと、サーバーの操作知識や、</a:t>
            </a:r>
            <a:r>
              <a:rPr lang="en-US" altLang="ja-JP" sz="1200" dirty="0"/>
              <a:t>Bi</a:t>
            </a:r>
            <a:r>
              <a:rPr lang="ja-JP" altLang="en-US" sz="1200" dirty="0"/>
              <a:t>でのエクスポートのやり方など</a:t>
            </a:r>
            <a:endParaRPr lang="en-US" altLang="ja-JP" sz="1200" dirty="0"/>
          </a:p>
          <a:p>
            <a:pPr marL="0" indent="0">
              <a:buNone/>
            </a:pPr>
            <a:r>
              <a:rPr lang="ja-JP" altLang="en-US" sz="1200" dirty="0"/>
              <a:t>人によっては難易度が高く、まだ全員がそのようなことが出来るわけではないのが現状です。</a:t>
            </a:r>
            <a:endParaRPr lang="en-US" altLang="ja-JP" sz="1200" dirty="0"/>
          </a:p>
          <a:p>
            <a:pPr marL="0" indent="0">
              <a:buNone/>
            </a:pPr>
            <a:r>
              <a:rPr kumimoji="1" lang="ja-JP" altLang="en-US" sz="1200" dirty="0"/>
              <a:t>またリアルタイムでクラウドにデータを上げられるわけではないので、最新のデータというものが必要な時に取れないということもあります。</a:t>
            </a:r>
            <a:endParaRPr kumimoji="1" lang="en-US" altLang="ja-JP" sz="1200" dirty="0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38B32AEC-DCC6-0397-C870-1BA17D700B04}"/>
              </a:ext>
            </a:extLst>
          </p:cNvPr>
          <p:cNvGrpSpPr/>
          <p:nvPr/>
        </p:nvGrpSpPr>
        <p:grpSpPr>
          <a:xfrm>
            <a:off x="1053927" y="4017104"/>
            <a:ext cx="9045207" cy="2151545"/>
            <a:chOff x="391141" y="4066199"/>
            <a:chExt cx="9045207" cy="2151545"/>
          </a:xfrm>
        </p:grpSpPr>
        <p:pic>
          <p:nvPicPr>
            <p:cNvPr id="1038" name="Picture 14" descr="Reporting SharePoint Online External Users with PowerShell">
              <a:extLst>
                <a:ext uri="{FF2B5EF4-FFF2-40B4-BE49-F238E27FC236}">
                  <a16:creationId xmlns:a16="http://schemas.microsoft.com/office/drawing/2014/main" id="{24BA9CC2-F022-0F92-DBF3-616A357FF7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9639" y="4744878"/>
              <a:ext cx="953651" cy="9789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AEA2BB94-C1B6-66AD-1BF7-C5B94F536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59021" y="4892647"/>
              <a:ext cx="914400" cy="914400"/>
            </a:xfrm>
            <a:prstGeom prst="rect">
              <a:avLst/>
            </a:prstGeom>
          </p:spPr>
        </p:pic>
        <p:pic>
          <p:nvPicPr>
            <p:cNvPr id="1026" name="Picture 2" descr="Power BI Logo [Microsoft] - PNG Logo Vector Brand Downloads (SVG, EPS)">
              <a:extLst>
                <a:ext uri="{FF2B5EF4-FFF2-40B4-BE49-F238E27FC236}">
                  <a16:creationId xmlns:a16="http://schemas.microsoft.com/office/drawing/2014/main" id="{887468D2-4535-08F2-3690-400A470066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1332" y="4066199"/>
              <a:ext cx="1495379" cy="1107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サーバー・PCのアイコン | フリーのアイコンイラスト素材 icon-pit">
              <a:extLst>
                <a:ext uri="{FF2B5EF4-FFF2-40B4-BE49-F238E27FC236}">
                  <a16:creationId xmlns:a16="http://schemas.microsoft.com/office/drawing/2014/main" id="{705E0F4E-7B52-1DB2-7D75-582824E78C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308" y="4505614"/>
              <a:ext cx="1287600" cy="1287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「クラウド」アイコンのフリー素材（商用可）">
              <a:extLst>
                <a:ext uri="{FF2B5EF4-FFF2-40B4-BE49-F238E27FC236}">
                  <a16:creationId xmlns:a16="http://schemas.microsoft.com/office/drawing/2014/main" id="{B6FF7B97-BDC1-0EBE-EF09-FEF129E1E6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8866" y="4122606"/>
              <a:ext cx="1287599" cy="12875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577B7BC5-2BA1-63F1-6EBA-4A4C508621F9}"/>
                </a:ext>
              </a:extLst>
            </p:cNvPr>
            <p:cNvSpPr txBox="1"/>
            <p:nvPr/>
          </p:nvSpPr>
          <p:spPr>
            <a:xfrm>
              <a:off x="391141" y="5723482"/>
              <a:ext cx="17235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200" dirty="0"/>
                <a:t>現場トレサビサーバー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EC35DF2C-73A1-14EC-C645-0DFB8054E364}"/>
                </a:ext>
              </a:extLst>
            </p:cNvPr>
            <p:cNvSpPr txBox="1"/>
            <p:nvPr/>
          </p:nvSpPr>
          <p:spPr>
            <a:xfrm>
              <a:off x="3733610" y="5583595"/>
              <a:ext cx="218521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/>
                <a:t>SPO</a:t>
              </a:r>
              <a:r>
                <a:rPr kumimoji="1" lang="ja-JP" altLang="en-US" sz="1200" dirty="0"/>
                <a:t>リストなど</a:t>
              </a:r>
              <a:endParaRPr kumimoji="1" lang="en-US" altLang="ja-JP" sz="1200" dirty="0"/>
            </a:p>
            <a:p>
              <a:r>
                <a:rPr lang="ja-JP" altLang="en-US" sz="1200" dirty="0"/>
                <a:t>クラウド環境にアップロード</a:t>
              </a:r>
              <a:endParaRPr kumimoji="1" lang="ja-JP" altLang="en-US" sz="1200" dirty="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392D0989-7420-1A95-3902-E083FAB74633}"/>
                </a:ext>
              </a:extLst>
            </p:cNvPr>
            <p:cNvCxnSpPr>
              <a:cxnSpLocks/>
            </p:cNvCxnSpPr>
            <p:nvPr/>
          </p:nvCxnSpPr>
          <p:spPr>
            <a:xfrm>
              <a:off x="1706062" y="5278440"/>
              <a:ext cx="1779705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2BD9DDB-779E-16B2-088F-958C761E9247}"/>
                </a:ext>
              </a:extLst>
            </p:cNvPr>
            <p:cNvCxnSpPr>
              <a:cxnSpLocks/>
            </p:cNvCxnSpPr>
            <p:nvPr/>
          </p:nvCxnSpPr>
          <p:spPr>
            <a:xfrm>
              <a:off x="5597782" y="5255849"/>
              <a:ext cx="197186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459B96E7-64E4-B14E-D4D7-BF957172A7F1}"/>
                </a:ext>
              </a:extLst>
            </p:cNvPr>
            <p:cNvSpPr txBox="1"/>
            <p:nvPr/>
          </p:nvSpPr>
          <p:spPr>
            <a:xfrm>
              <a:off x="6481693" y="5756079"/>
              <a:ext cx="29546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200" dirty="0"/>
                <a:t>クラウド環境に上がったデータを用いて</a:t>
              </a:r>
              <a:endParaRPr kumimoji="1" lang="en-US" altLang="ja-JP" sz="1200" dirty="0"/>
            </a:p>
            <a:p>
              <a:r>
                <a:rPr kumimoji="1" lang="en-US" altLang="ja-JP" sz="1200" dirty="0"/>
                <a:t>Apps</a:t>
              </a:r>
              <a:r>
                <a:rPr kumimoji="1" lang="ja-JP" altLang="en-US" sz="1200" dirty="0"/>
                <a:t>や</a:t>
              </a:r>
              <a:r>
                <a:rPr kumimoji="1" lang="en-US" altLang="ja-JP" sz="1200" dirty="0"/>
                <a:t>Bi</a:t>
              </a:r>
              <a:r>
                <a:rPr kumimoji="1" lang="ja-JP" altLang="en-US" sz="1200" dirty="0"/>
                <a:t>でのデータとして利用</a:t>
              </a:r>
            </a:p>
          </p:txBody>
        </p:sp>
      </p:grp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2C85B9F5-8B83-532A-A19A-9EEA022F4100}"/>
              </a:ext>
            </a:extLst>
          </p:cNvPr>
          <p:cNvSpPr txBox="1"/>
          <p:nvPr/>
        </p:nvSpPr>
        <p:spPr>
          <a:xfrm>
            <a:off x="327309" y="115784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【</a:t>
            </a:r>
            <a:r>
              <a:rPr kumimoji="1" lang="ja-JP" altLang="en-US" sz="1600" dirty="0"/>
              <a:t>現状</a:t>
            </a:r>
            <a:r>
              <a:rPr kumimoji="1" lang="en-US" altLang="ja-JP" sz="1600" dirty="0"/>
              <a:t>】</a:t>
            </a:r>
            <a:endParaRPr kumimoji="1" lang="ja-JP" altLang="en-US" sz="1600" dirty="0"/>
          </a:p>
        </p:txBody>
      </p:sp>
      <p:pic>
        <p:nvPicPr>
          <p:cNvPr id="1040" name="Picture 16" descr="「csv」アイコンのフリー素材（商用可）">
            <a:extLst>
              <a:ext uri="{FF2B5EF4-FFF2-40B4-BE49-F238E27FC236}">
                <a16:creationId xmlns:a16="http://schemas.microsoft.com/office/drawing/2014/main" id="{1DEF9D9A-E764-8F76-84E1-D8680A74F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7295" y="4560468"/>
            <a:ext cx="1292572" cy="129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F0B9AA-58DD-5F78-7C14-FF07BB8D1710}"/>
              </a:ext>
            </a:extLst>
          </p:cNvPr>
          <p:cNvCxnSpPr>
            <a:cxnSpLocks/>
          </p:cNvCxnSpPr>
          <p:nvPr/>
        </p:nvCxnSpPr>
        <p:spPr>
          <a:xfrm>
            <a:off x="9594418" y="5096018"/>
            <a:ext cx="105279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8BFC646A-8C60-AA93-7635-A2A555A1E7A2}"/>
              </a:ext>
            </a:extLst>
          </p:cNvPr>
          <p:cNvSpPr txBox="1"/>
          <p:nvPr/>
        </p:nvSpPr>
        <p:spPr>
          <a:xfrm>
            <a:off x="10662003" y="575795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必要な情報を</a:t>
            </a:r>
            <a:br>
              <a:rPr kumimoji="1" lang="en-US" altLang="ja-JP" sz="1200" dirty="0"/>
            </a:br>
            <a:r>
              <a:rPr kumimoji="1" lang="ja-JP" altLang="en-US" sz="1200" dirty="0"/>
              <a:t>エクスポート</a:t>
            </a:r>
          </a:p>
        </p:txBody>
      </p:sp>
    </p:spTree>
    <p:extLst>
      <p:ext uri="{BB962C8B-B14F-4D97-AF65-F5344CB8AC3E}">
        <p14:creationId xmlns:p14="http://schemas.microsoft.com/office/powerpoint/2010/main" val="2539804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2D6AB-2C8E-B436-0A59-D008124C0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5EDCE-18E8-D301-E436-DE0770119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614" y="121543"/>
            <a:ext cx="10515600" cy="1325563"/>
          </a:xfrm>
        </p:spPr>
        <p:txBody>
          <a:bodyPr/>
          <a:lstStyle/>
          <a:p>
            <a:r>
              <a:rPr lang="en-US" altLang="ja-JP" dirty="0"/>
              <a:t>SQL</a:t>
            </a:r>
            <a:r>
              <a:rPr lang="ja-JP" altLang="en-US" dirty="0"/>
              <a:t>サーバー接続アプリ作成について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56C38B7-4F25-8788-72F1-53145B438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058" y="1545688"/>
            <a:ext cx="10515600" cy="14587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1200" dirty="0"/>
              <a:t>先ほどの</a:t>
            </a:r>
            <a:r>
              <a:rPr lang="en-US" altLang="ja-JP" sz="1200" dirty="0"/>
              <a:t>2</a:t>
            </a:r>
            <a:r>
              <a:rPr lang="ja-JP" altLang="en-US" sz="1200" dirty="0"/>
              <a:t>つの現状の問題点である、</a:t>
            </a:r>
            <a:endParaRPr lang="en-US" altLang="ja-JP" sz="1200" dirty="0"/>
          </a:p>
          <a:p>
            <a:r>
              <a:rPr kumimoji="1" lang="ja-JP" altLang="en-US" sz="1200" dirty="0"/>
              <a:t>エクスポートの難易度</a:t>
            </a:r>
            <a:endParaRPr kumimoji="1" lang="en-US" altLang="ja-JP" sz="1200" dirty="0"/>
          </a:p>
          <a:p>
            <a:r>
              <a:rPr lang="ja-JP" altLang="en-US" sz="1200" dirty="0"/>
              <a:t>最新データの取得</a:t>
            </a:r>
            <a:endParaRPr lang="en-US" altLang="ja-JP" sz="1200" dirty="0"/>
          </a:p>
          <a:p>
            <a:pPr marL="0" indent="0">
              <a:buNone/>
            </a:pPr>
            <a:r>
              <a:rPr kumimoji="1" lang="ja-JP" altLang="en-US" sz="1200" dirty="0"/>
              <a:t>これらに対するアプリを作成しましたので、以下ページでアプリ画面を紹介します。発表の際は画面共有で行う予定です。</a:t>
            </a:r>
            <a:endParaRPr kumimoji="1" lang="en-US" altLang="ja-JP" sz="1200" dirty="0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7688A809-09FC-2AE5-B1B9-41FB2C9CFEAE}"/>
              </a:ext>
            </a:extLst>
          </p:cNvPr>
          <p:cNvGrpSpPr/>
          <p:nvPr/>
        </p:nvGrpSpPr>
        <p:grpSpPr>
          <a:xfrm>
            <a:off x="1046243" y="4510348"/>
            <a:ext cx="7178501" cy="1539646"/>
            <a:chOff x="391141" y="4505614"/>
            <a:chExt cx="7178501" cy="1539646"/>
          </a:xfrm>
        </p:grpSpPr>
        <p:pic>
          <p:nvPicPr>
            <p:cNvPr id="1032" name="Picture 8" descr="サーバー・PCのアイコン | フリーのアイコンイラスト素材 icon-pit">
              <a:extLst>
                <a:ext uri="{FF2B5EF4-FFF2-40B4-BE49-F238E27FC236}">
                  <a16:creationId xmlns:a16="http://schemas.microsoft.com/office/drawing/2014/main" id="{49B696D0-0CEE-8863-CC99-F93932BB9B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308" y="4505614"/>
              <a:ext cx="1287600" cy="1287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DE32EF9-387D-21CC-5ABE-13EA8E27ED7D}"/>
                </a:ext>
              </a:extLst>
            </p:cNvPr>
            <p:cNvSpPr txBox="1"/>
            <p:nvPr/>
          </p:nvSpPr>
          <p:spPr>
            <a:xfrm>
              <a:off x="391141" y="5723482"/>
              <a:ext cx="17235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200" dirty="0"/>
                <a:t>現場トレサビサーバー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51C50E6-31D0-2F2F-B438-F48FC14F48C7}"/>
                </a:ext>
              </a:extLst>
            </p:cNvPr>
            <p:cNvSpPr txBox="1"/>
            <p:nvPr/>
          </p:nvSpPr>
          <p:spPr>
            <a:xfrm>
              <a:off x="3733610" y="5583595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200" dirty="0"/>
                <a:t>直接サーバーを覗き</a:t>
              </a:r>
              <a:br>
                <a:rPr lang="en-US" altLang="ja-JP" sz="1200" dirty="0"/>
              </a:br>
              <a:r>
                <a:rPr lang="ja-JP" altLang="en-US" sz="1200" dirty="0"/>
                <a:t>最新データを取得</a:t>
              </a:r>
              <a:endParaRPr kumimoji="1" lang="en-US" altLang="ja-JP" sz="1200" dirty="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15A80FC9-9284-ABFE-3482-1C5E684F9897}"/>
                </a:ext>
              </a:extLst>
            </p:cNvPr>
            <p:cNvCxnSpPr>
              <a:cxnSpLocks/>
            </p:cNvCxnSpPr>
            <p:nvPr/>
          </p:nvCxnSpPr>
          <p:spPr>
            <a:xfrm>
              <a:off x="1706062" y="5278440"/>
              <a:ext cx="1779705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A575BC6-6FCA-DE83-4383-0A7751F1A1C9}"/>
                </a:ext>
              </a:extLst>
            </p:cNvPr>
            <p:cNvCxnSpPr>
              <a:cxnSpLocks/>
            </p:cNvCxnSpPr>
            <p:nvPr/>
          </p:nvCxnSpPr>
          <p:spPr>
            <a:xfrm>
              <a:off x="5597782" y="5255849"/>
              <a:ext cx="197186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115CF8A6-1BE0-4705-B621-FEBC7C7D252B}"/>
              </a:ext>
            </a:extLst>
          </p:cNvPr>
          <p:cNvSpPr txBox="1"/>
          <p:nvPr/>
        </p:nvSpPr>
        <p:spPr>
          <a:xfrm>
            <a:off x="327309" y="1157843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【</a:t>
            </a:r>
            <a:r>
              <a:rPr kumimoji="1" lang="ja-JP" altLang="en-US" sz="1600" dirty="0"/>
              <a:t>成果物</a:t>
            </a:r>
            <a:r>
              <a:rPr kumimoji="1" lang="en-US" altLang="ja-JP" sz="1600" dirty="0"/>
              <a:t>】</a:t>
            </a:r>
            <a:endParaRPr kumimoji="1" lang="ja-JP" altLang="en-US" sz="1600" dirty="0"/>
          </a:p>
        </p:txBody>
      </p:sp>
      <p:pic>
        <p:nvPicPr>
          <p:cNvPr id="2060" name="Picture 12" descr="Python Logo, symbol, meaning, history, PNG, brand">
            <a:extLst>
              <a:ext uri="{FF2B5EF4-FFF2-40B4-BE49-F238E27FC236}">
                <a16:creationId xmlns:a16="http://schemas.microsoft.com/office/drawing/2014/main" id="{DD9328F4-55FA-CC04-7DD2-84F11D177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7020" y="4648328"/>
            <a:ext cx="1284087" cy="722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8" descr="ユーザーアイコン（プロフィールマーク） | 無料イラスト素材｜素材ラボ">
            <a:extLst>
              <a:ext uri="{FF2B5EF4-FFF2-40B4-BE49-F238E27FC236}">
                <a16:creationId xmlns:a16="http://schemas.microsoft.com/office/drawing/2014/main" id="{99062811-1807-BE83-3A3D-C62C7BBC4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4042" y="4070933"/>
            <a:ext cx="1677975" cy="125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6" descr="「csv」アイコンのフリー素材（商用可）">
            <a:extLst>
              <a:ext uri="{FF2B5EF4-FFF2-40B4-BE49-F238E27FC236}">
                <a16:creationId xmlns:a16="http://schemas.microsoft.com/office/drawing/2014/main" id="{EA8E257A-B1D6-5938-58FA-36CF82A139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0235" y="4614297"/>
            <a:ext cx="1292572" cy="129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500939C-15C7-F767-8F13-E834CA284918}"/>
              </a:ext>
            </a:extLst>
          </p:cNvPr>
          <p:cNvSpPr txBox="1"/>
          <p:nvPr/>
        </p:nvSpPr>
        <p:spPr>
          <a:xfrm>
            <a:off x="8184943" y="581178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必要な情報を</a:t>
            </a:r>
            <a:br>
              <a:rPr kumimoji="1" lang="en-US" altLang="ja-JP" sz="1200" dirty="0"/>
            </a:br>
            <a:r>
              <a:rPr kumimoji="1" lang="ja-JP" altLang="en-US" sz="1200" dirty="0"/>
              <a:t>エクスポート</a:t>
            </a:r>
          </a:p>
        </p:txBody>
      </p:sp>
    </p:spTree>
    <p:extLst>
      <p:ext uri="{BB962C8B-B14F-4D97-AF65-F5344CB8AC3E}">
        <p14:creationId xmlns:p14="http://schemas.microsoft.com/office/powerpoint/2010/main" val="2474248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CB238AA-5CCC-2A1B-F597-4F0885F0E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86" y="453483"/>
            <a:ext cx="9099924" cy="631111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6023E8C-B508-55DA-86DB-0195EB4F3EEC}"/>
              </a:ext>
            </a:extLst>
          </p:cNvPr>
          <p:cNvSpPr txBox="1"/>
          <p:nvPr/>
        </p:nvSpPr>
        <p:spPr>
          <a:xfrm>
            <a:off x="3962960" y="1417627"/>
            <a:ext cx="4844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>
                <a:highlight>
                  <a:srgbClr val="C0C0C0"/>
                </a:highlight>
              </a:rPr>
              <a:t>上部の項目を入力し、接続ボタンを押すと</a:t>
            </a:r>
            <a:endParaRPr kumimoji="1" lang="en-US" altLang="ja-JP" sz="1400" dirty="0">
              <a:highlight>
                <a:srgbClr val="C0C0C0"/>
              </a:highlight>
            </a:endParaRPr>
          </a:p>
          <a:p>
            <a:r>
              <a:rPr lang="ja-JP" altLang="en-US" sz="1400" dirty="0">
                <a:highlight>
                  <a:srgbClr val="C0C0C0"/>
                </a:highlight>
              </a:rPr>
              <a:t>対象の</a:t>
            </a:r>
            <a:r>
              <a:rPr lang="en-US" altLang="ja-JP" sz="1400" dirty="0">
                <a:highlight>
                  <a:srgbClr val="C0C0C0"/>
                </a:highlight>
              </a:rPr>
              <a:t>SQL</a:t>
            </a:r>
            <a:r>
              <a:rPr lang="ja-JP" altLang="en-US" sz="1400" dirty="0">
                <a:highlight>
                  <a:srgbClr val="C0C0C0"/>
                </a:highlight>
              </a:rPr>
              <a:t>サーバーに接続しテーブル一覧を取得します。</a:t>
            </a:r>
            <a:endParaRPr lang="en-US" altLang="ja-JP" sz="1400" dirty="0">
              <a:highlight>
                <a:srgbClr val="C0C0C0"/>
              </a:highlight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0DFF38AD-6753-DEB8-7C01-F799A14A07AF}"/>
              </a:ext>
            </a:extLst>
          </p:cNvPr>
          <p:cNvSpPr/>
          <p:nvPr/>
        </p:nvSpPr>
        <p:spPr>
          <a:xfrm>
            <a:off x="343667" y="595281"/>
            <a:ext cx="9407887" cy="822346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4968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477B1BF-A7B3-72E0-4B8C-53A9C5D52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391" y="877229"/>
            <a:ext cx="7979967" cy="552357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0459C35-B709-14BD-AC79-73EA6A9E4A6C}"/>
              </a:ext>
            </a:extLst>
          </p:cNvPr>
          <p:cNvSpPr txBox="1"/>
          <p:nvPr/>
        </p:nvSpPr>
        <p:spPr>
          <a:xfrm>
            <a:off x="2803233" y="2056963"/>
            <a:ext cx="68275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>
                <a:highlight>
                  <a:srgbClr val="C0C0C0"/>
                </a:highlight>
              </a:rPr>
              <a:t>接続したサーバーのテーブル一覧が左のリストに表示され</a:t>
            </a:r>
            <a:endParaRPr kumimoji="1" lang="en-US" altLang="ja-JP" sz="1400" dirty="0">
              <a:highlight>
                <a:srgbClr val="C0C0C0"/>
              </a:highlight>
            </a:endParaRPr>
          </a:p>
          <a:p>
            <a:r>
              <a:rPr lang="ja-JP" altLang="en-US" sz="1400" dirty="0">
                <a:highlight>
                  <a:srgbClr val="C0C0C0"/>
                </a:highlight>
              </a:rPr>
              <a:t>テーブルを選択すると、下部のドロップダウンにテーブルの列情報が出てきます。</a:t>
            </a:r>
            <a:endParaRPr lang="en-US" altLang="ja-JP" sz="1400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420265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D8200-D75A-C8A5-AA41-A43FCFBC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1213725-4CDC-3468-DC0D-91BF7BA24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08" y="0"/>
            <a:ext cx="9907832" cy="6858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EC2BEF4-3578-E5E3-D5FC-EB02D4258D90}"/>
              </a:ext>
            </a:extLst>
          </p:cNvPr>
          <p:cNvSpPr txBox="1"/>
          <p:nvPr/>
        </p:nvSpPr>
        <p:spPr>
          <a:xfrm>
            <a:off x="2899316" y="5380026"/>
            <a:ext cx="59298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>
                <a:highlight>
                  <a:srgbClr val="C0C0C0"/>
                </a:highlight>
              </a:rPr>
              <a:t>ドロップダウンで選択した列を降順に並べ直してデータを取得します。</a:t>
            </a:r>
            <a:endParaRPr lang="en-US" altLang="ja-JP" sz="1400" dirty="0">
              <a:highlight>
                <a:srgbClr val="C0C0C0"/>
              </a:highlight>
            </a:endParaRPr>
          </a:p>
          <a:p>
            <a:r>
              <a:rPr lang="ja-JP" altLang="en-US" sz="1400" dirty="0">
                <a:highlight>
                  <a:srgbClr val="C0C0C0"/>
                </a:highlight>
              </a:rPr>
              <a:t>テストアプリなので上から</a:t>
            </a:r>
            <a:r>
              <a:rPr lang="en-US" altLang="ja-JP" sz="1400" dirty="0">
                <a:highlight>
                  <a:srgbClr val="C0C0C0"/>
                </a:highlight>
              </a:rPr>
              <a:t>50</a:t>
            </a:r>
            <a:r>
              <a:rPr lang="ja-JP" altLang="en-US" sz="1400" dirty="0">
                <a:highlight>
                  <a:srgbClr val="C0C0C0"/>
                </a:highlight>
              </a:rPr>
              <a:t>件取得。</a:t>
            </a:r>
            <a:endParaRPr lang="en-US" altLang="ja-JP" sz="1400" dirty="0">
              <a:highlight>
                <a:srgbClr val="C0C0C0"/>
              </a:highlight>
            </a:endParaRPr>
          </a:p>
          <a:p>
            <a:r>
              <a:rPr lang="ja-JP" altLang="en-US" sz="1400" dirty="0">
                <a:highlight>
                  <a:srgbClr val="C0C0C0"/>
                </a:highlight>
              </a:rPr>
              <a:t>今後件数の指定、日付の指定を出来るようにアップデート予定</a:t>
            </a:r>
            <a:endParaRPr lang="en-US" altLang="ja-JP" sz="1400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625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860C8A2-C410-3864-D423-DD00CE79E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15" y="1087754"/>
            <a:ext cx="11403980" cy="561759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36CA7A-9AAD-3479-2D09-72455894CEB1}"/>
              </a:ext>
            </a:extLst>
          </p:cNvPr>
          <p:cNvSpPr txBox="1"/>
          <p:nvPr/>
        </p:nvSpPr>
        <p:spPr>
          <a:xfrm>
            <a:off x="2870891" y="349090"/>
            <a:ext cx="60228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>
                <a:highlight>
                  <a:srgbClr val="C0C0C0"/>
                </a:highlight>
              </a:rPr>
              <a:t>アプリの保存ボタンでアプリと同一階層に</a:t>
            </a:r>
            <a:r>
              <a:rPr lang="en-US" altLang="ja-JP" sz="1400" dirty="0">
                <a:highlight>
                  <a:srgbClr val="C0C0C0"/>
                </a:highlight>
              </a:rPr>
              <a:t>csv</a:t>
            </a:r>
            <a:r>
              <a:rPr lang="ja-JP" altLang="en-US" sz="1400" dirty="0">
                <a:highlight>
                  <a:srgbClr val="C0C0C0"/>
                </a:highlight>
              </a:rPr>
              <a:t>ファイルで吐き出し可能。</a:t>
            </a:r>
            <a:endParaRPr lang="en-US" altLang="ja-JP" sz="1400" dirty="0">
              <a:highlight>
                <a:srgbClr val="C0C0C0"/>
              </a:highlight>
            </a:endParaRPr>
          </a:p>
          <a:p>
            <a:r>
              <a:rPr lang="ja-JP" altLang="en-US" sz="1400" dirty="0">
                <a:highlight>
                  <a:srgbClr val="C0C0C0"/>
                </a:highlight>
              </a:rPr>
              <a:t>ファイル名は</a:t>
            </a:r>
            <a:r>
              <a:rPr lang="en-US" altLang="ja-JP" sz="1400" dirty="0">
                <a:highlight>
                  <a:srgbClr val="C0C0C0"/>
                </a:highlight>
              </a:rPr>
              <a:t>[</a:t>
            </a:r>
            <a:r>
              <a:rPr lang="ja-JP" altLang="en-US" sz="1400" dirty="0">
                <a:highlight>
                  <a:srgbClr val="C0C0C0"/>
                </a:highlight>
              </a:rPr>
              <a:t>テーブル名</a:t>
            </a:r>
            <a:r>
              <a:rPr lang="en-US" altLang="ja-JP" sz="1400" dirty="0">
                <a:highlight>
                  <a:srgbClr val="C0C0C0"/>
                </a:highlight>
              </a:rPr>
              <a:t>]_[</a:t>
            </a:r>
            <a:r>
              <a:rPr lang="ja-JP" altLang="en-US" sz="1400" dirty="0">
                <a:highlight>
                  <a:srgbClr val="C0C0C0"/>
                </a:highlight>
              </a:rPr>
              <a:t>現在の日時</a:t>
            </a:r>
            <a:r>
              <a:rPr lang="en-US" altLang="ja-JP" sz="1400" dirty="0">
                <a:highlight>
                  <a:srgbClr val="C0C0C0"/>
                </a:highlight>
              </a:rPr>
              <a:t>].csv</a:t>
            </a:r>
            <a:r>
              <a:rPr lang="ja-JP" altLang="en-US" sz="1400" dirty="0">
                <a:highlight>
                  <a:srgbClr val="C0C0C0"/>
                </a:highlight>
              </a:rPr>
              <a:t>となります。</a:t>
            </a:r>
            <a:endParaRPr lang="en-US" altLang="ja-JP" sz="1400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480152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361</Words>
  <Application>Microsoft Office PowerPoint</Application>
  <PresentationFormat>ワイド画面</PresentationFormat>
  <Paragraphs>33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SQLサーバー接続アプリ作成について</vt:lpstr>
      <vt:lpstr>SQLサーバー接続アプリ作成について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Matsuki, Nobuyasu/松木 伸泰</dc:creator>
  <cp:lastModifiedBy>Matsuki, Nobuyasu/松木 伸泰</cp:lastModifiedBy>
  <cp:revision>3</cp:revision>
  <dcterms:created xsi:type="dcterms:W3CDTF">2026-01-20T08:28:57Z</dcterms:created>
  <dcterms:modified xsi:type="dcterms:W3CDTF">2026-01-21T05:26:16Z</dcterms:modified>
</cp:coreProperties>
</file>